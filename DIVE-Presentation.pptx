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0"/>
            <a:ext cx="11247120" cy="41148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Calibri"/>
              </a:defRPr>
            </a:pPr>
            <a:r>
              <a:t>DIVE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6DAA"/>
                </a:solidFill>
                <a:latin typeface="Calibri"/>
              </a:defRPr>
            </a:pPr>
            <a:r>
              <a:t>Diagnose → Iterate → Validate → Evolve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6060"/>
                </a:solidFill>
                <a:latin typeface="Calibri"/>
              </a:defRPr>
            </a:pPr>
            <a:r>
              <a:t>AI Project Management for the Probabilistic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303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Vahid Hakami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CC3333"/>
                </a:solidFill>
                <a:latin typeface="Calibri"/>
              </a:defRPr>
            </a:pPr>
            <a:r>
              <a:t>70%+ of AI projects never deliver expected value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1A1A2E"/>
                </a:solidFill>
                <a:latin typeface="Calibri"/>
              </a:defRPr>
            </a:pPr>
            <a:r>
              <a:t>Why?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We use deterministic frameworks (PMBOK, PRINCE2, Agile, SAFe) for probabilistic AI work.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AI isn't software: features aren't binary, requirements can't be fully specified upfront, and quality degrades over time.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6DAA"/>
                </a:solidFill>
                <a:latin typeface="Calibri"/>
              </a:defRPr>
            </a:pPr>
            <a:r>
              <a:t>The cost isn't engineering hours — it's GPU compute and API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 Core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AA"/>
                </a:solidFill>
                <a:latin typeface="Calibri"/>
              </a:defRPr>
            </a:pPr>
            <a:r>
              <a:t>Principle 1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Data First, Code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71600"/>
            <a:ext cx="265176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AA"/>
                </a:solidFill>
                <a:latin typeface="Calibri"/>
              </a:defRPr>
            </a:pPr>
            <a:r>
              <a:t>Principle 2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Parallel Exploration Beats Sequential Certainty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65176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AA"/>
                </a:solidFill>
                <a:latin typeface="Calibri"/>
              </a:defRPr>
            </a:pPr>
            <a:r>
              <a:t>Principle 3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Metric Contracts Replace Requirements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371600"/>
            <a:ext cx="265176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AA"/>
                </a:solidFill>
                <a:latin typeface="Calibri"/>
              </a:defRPr>
            </a:pPr>
            <a:r>
              <a:t>Principle 4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Fail Fast, Fail Quantitatively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265176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AA"/>
                </a:solidFill>
                <a:latin typeface="Calibri"/>
              </a:defRPr>
            </a:pPr>
            <a:r>
              <a:t>Principle 5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Governance Is Continuous, Not Periodic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651760"/>
            <a:ext cx="265176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AA"/>
                </a:solidFill>
                <a:latin typeface="Calibri"/>
              </a:defRPr>
            </a:pPr>
            <a:r>
              <a:t>Principle 6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Human-in-the-Loop Is a Design Constraint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265176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DAA"/>
                </a:solidFill>
                <a:latin typeface="Calibri"/>
              </a:defRPr>
            </a:pPr>
            <a:r>
              <a:t>Principle 7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Compute Is a First-Class Resource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Data First, Code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DAA"/>
                </a:solidFill>
                <a:latin typeface="Calibri"/>
              </a:defRPr>
            </a:pPr>
            <a:r>
              <a:t>No AI project begins with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8463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Data audit is the first deliverable of every project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If the data doesn't contain signal, no model can save you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Mandatory Data Feasibility Gate before any model development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Exploratory Data Analysis (EDA) report with actionable findings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Data quality thresholds must be met before proceeding to Iterate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Parallel Exploration Beats Sequential 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DAA"/>
                </a:solidFill>
                <a:latin typeface="Calibri"/>
              </a:defRPr>
            </a:pPr>
            <a:r>
              <a:t>The winning approach is unknown at project start.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8463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Run 3–5 parallel experiment tracks simultaneously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Each track explores a different approach (architecture, features, data)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Each track has a fixed compute budget — no infinite experiments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Tracks converge when metrics are validated, not when a calendar says so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Weekly dashboard comparisons across all tracks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Metric Contracts Replace Requirements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DAA"/>
                </a:solidFill>
                <a:latin typeface="Calibri"/>
              </a:defRPr>
            </a:pPr>
            <a:r>
              <a:t>Vague requirements are the #1 cause of AI project failure.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8463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Metric Contract: signed agreement with precise, measurable thresholds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Example: "F1 ≥ 0.87 on held-out test set, latency ≤ 200ms"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Everything not in the Metric Contract is a wish, not a requirement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Contracts are signed by all stakeholders before Iterate phase begins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Reduces scope creep and stakeholder misalignment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Fail Fast, Fail Quantitatively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DAA"/>
                </a:solidFill>
                <a:latin typeface="Calibri"/>
              </a:defRPr>
            </a:pPr>
            <a:r>
              <a:t>Know when to kill a project — and treat it as a success.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8463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Quantitative kill criteria are defined before any experiments start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Hit a gate without meeting metrics? The track is killed or redesigned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A kill is a success — it preserved compute budget and team focus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AI teams can't distinguish 'needs tuning' from 'fundamentally wrong'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DIVE provides the decision framework to make that call objectively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Governance Is Continuous, Not Periodic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DAA"/>
                </a:solidFill>
                <a:latin typeface="Calibri"/>
              </a:defRPr>
            </a:pPr>
            <a:r>
              <a:t>AI models degrade continuously — so must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8463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Traditional software stays working until changed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AI suffers from data drift, concept drift, and performance drift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DIVE mandates permanent monitoring for every production model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Living Governance Card tracks drift, retrains, and incidents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Quarterly governance reviews with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Human-in-the-Loop Is a Design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DAA"/>
                </a:solidFill>
                <a:latin typeface="Calibri"/>
              </a:defRPr>
            </a:pPr>
            <a:r>
              <a:t>Design the safety net before you need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8463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Three escalation tiers defined before deployment: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  Advisory — human reviews all AI recommendations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  Assisted — human confirms critical AI decisions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  Automated — no human in loop, highest governance scrutiny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Escalation protocols defined during Diagnose phase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Compute Is a First-Class Resource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DAA"/>
                </a:solidFill>
                <a:latin typeface="Calibri"/>
              </a:defRPr>
            </a:pPr>
            <a:r>
              <a:t>GPU time and API costs dominate AI budgets.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84632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DIVE tracks compute burn rate alongside schedule and budget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Each experiment track has a fixed compute budget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Exceed budget without results? The track is redesigned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Compute costs are reported in every weekly dashboard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Enables accurate ROI forecasting for AI projects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DIVE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5029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DAA"/>
                </a:solidFill>
                <a:latin typeface="Calibri"/>
              </a:defRPr>
            </a:pPr>
            <a:r>
              <a:t>Diagnose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606060"/>
                </a:solidFill>
                <a:latin typeface="Calibri"/>
              </a:defRPr>
            </a:pPr>
            <a:r>
              <a:t>2–4 weeks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Validate problem-Market fit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Audit data quality &amp; signal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Establish baseline metrics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Sign Metric Contract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Screen ethics &amp;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71600"/>
            <a:ext cx="2651760" cy="5029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DAA"/>
                </a:solidFill>
                <a:latin typeface="Calibri"/>
              </a:defRPr>
            </a:pPr>
            <a:r>
              <a:t>Iterate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606060"/>
                </a:solidFill>
                <a:latin typeface="Calibri"/>
              </a:defRPr>
            </a:pPr>
            <a:r>
              <a:t>4–8 weeks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3–5 parallel experiment tracks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Fixed compute budget per track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Weekly dashboard comparisons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Track compute burn rate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Select winning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651760" cy="5029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DAA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606060"/>
                </a:solidFill>
                <a:latin typeface="Calibri"/>
              </a:defRPr>
            </a:pPr>
            <a:r>
              <a:t>2–4 weeks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Hold-out evaluation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Bias &amp; fairness audit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Edge case stress testing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Stakeholder demo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Go/No-Go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371600"/>
            <a:ext cx="2651760" cy="5029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DAA"/>
                </a:solidFill>
                <a:latin typeface="Calibri"/>
              </a:defRPr>
            </a:pPr>
            <a:r>
              <a:t>Evolve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606060"/>
                </a:solidFill>
                <a:latin typeface="Calibri"/>
              </a:defRPr>
            </a:pPr>
            <a:r>
              <a:t>Ongoing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Deploy with monitoring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Track drift continuously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Automated alerting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Retrain on schedule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Quarterly governance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DIVE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DIVE vs. Existing AI Project Management Approaches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PMI CPMAI: Heavy certification-focused process, 76-page workbook, no parallel exploration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Microsoft TDSP: Engineering-focused, no compute tracking, no Metric Contracts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MLOps: Deployment-focused, no project governance, no kill criteria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Agile/SAFe: Built for deterministic software, not probabilistic AI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06DAA"/>
                </a:solidFill>
                <a:latin typeface="Calibri"/>
              </a:defRPr>
            </a:pPr>
            <a:r>
              <a:t>  DIVE: Parallel exploration, quantitative kill criteria, Metric Contracts, compute tracking, drift protocol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DIVE Includes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 b="1">
                <a:solidFill>
                  <a:srgbClr val="006DAA"/>
                </a:solidFill>
                <a:latin typeface="Calibri"/>
              </a:defRPr>
            </a:pPr>
            <a:r>
              <a:t>14 Templates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T1–T14 covering every phase: Project Charter, Data Audit, Metric Contract, Experiment Log, etc.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6DAA"/>
                </a:solidFill>
                <a:latin typeface="Calibri"/>
              </a:defRPr>
            </a:pPr>
            <a:r>
              <a:t>5 Governance Artifacts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G1: Governance Card, G2: Ethics Screen, G3: Risk Register, G4: Drift Log, G5: Review Report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006DAA"/>
                </a:solidFill>
                <a:latin typeface="Calibri"/>
              </a:defRPr>
            </a:pPr>
            <a:r>
              <a:t>Full Lifecycle Documentation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Published white paper on SSRN (ID: 6806018), open-source on GitHub under CC BY-ND 4.0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  <a:latin typeface="Calibri"/>
              </a:defRPr>
            </a:pPr>
            <a:r>
              <a:t>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6DAA"/>
                </a:solidFill>
                <a:latin typeface="Calibri"/>
              </a:defRPr>
            </a:pPr>
            <a:r>
              <a:t>White Paper: papers.ssrn.com (Abstract ID: 6806018)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6DAA"/>
                </a:solidFill>
                <a:latin typeface="Calibri"/>
              </a:defRPr>
            </a:pPr>
            <a:r>
              <a:t>GitHub: github.com/vdhakami/dive-framework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60"/>
                </a:solidFill>
                <a:latin typeface="Calibri"/>
              </a:defRPr>
            </a:pPr>
            <a:r>
              <a:t>License: CC BY-ND 4.0 — Free to use and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3035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Contact: vd.hakami@gmail.com · LinkedIn: Vahid Hakami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